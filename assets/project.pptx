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7" d="100"/>
          <a:sy n="57" d="100"/>
        </p:scale>
        <p:origin x="55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487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15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351368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Times New Roman" panose="02020603050405020304" pitchFamily="18" charset="0"/>
              </a:rPr>
              <a:t>Autoscaling Stream ETL &amp; Window Aggregation with Spark Structured Streaming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883000" y="5210423"/>
            <a:ext cx="13042821" cy="474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/>
                <a:ea typeface="Open Sans" pitchFamily="34" charset="-122"/>
                <a:cs typeface="Open Sans" pitchFamily="34" charset="-120"/>
              </a:rPr>
              <a:t>Ahmed Yar, Humayun Junaid, Muhammad Asjad Kashif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07DFF-E7C0-EDD1-558F-5D30C366F086}"/>
              </a:ext>
            </a:extLst>
          </p:cNvPr>
          <p:cNvSpPr txBox="1"/>
          <p:nvPr/>
        </p:nvSpPr>
        <p:spPr>
          <a:xfrm>
            <a:off x="793789" y="2260970"/>
            <a:ext cx="10694020" cy="111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39393C"/>
                </a:solidFill>
                <a:latin typeface="Playfair Display Bold"/>
                <a:ea typeface="Open Sans" pitchFamily="34" charset="-122"/>
                <a:cs typeface="Open Sans" pitchFamily="34" charset="-120"/>
              </a:rPr>
              <a:t>Department of Computer Science National University of Sciences &amp; Technology (NUST) </a:t>
            </a: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39393C"/>
                </a:solidFill>
                <a:latin typeface="Playfair Display Bold"/>
                <a:ea typeface="Open Sans" pitchFamily="34" charset="-122"/>
                <a:cs typeface="Open Sans" pitchFamily="34" charset="-120"/>
              </a:rPr>
              <a:t>Course Code: CS-315 – Cloud Computing</a:t>
            </a:r>
            <a:endParaRPr lang="en-US" dirty="0">
              <a:latin typeface="Playfair Display Bold"/>
            </a:endParaRPr>
          </a:p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0689"/>
            <a:ext cx="1164121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Big Data </a:t>
            </a: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Times New Roman" panose="02020603050405020304" pitchFamily="18" charset="0"/>
              </a:rPr>
              <a:t>Dilemma</a:t>
            </a: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: Static Infrastructure Challenges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607826"/>
            <a:ext cx="6407944" cy="2940010"/>
          </a:xfrm>
          <a:prstGeom prst="roundRect">
            <a:avLst>
              <a:gd name="adj" fmla="val 115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20604" y="283464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021687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7418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Resource Wastage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232315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Static infrastructure leads to over-provisioning during low traffic, resulting in significant cloud costs.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607826"/>
            <a:ext cx="6408063" cy="2940010"/>
          </a:xfrm>
          <a:prstGeom prst="roundRect">
            <a:avLst>
              <a:gd name="adj" fmla="val 115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7655362" y="283464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3021687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741896"/>
            <a:ext cx="32854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Performance Bottlenecks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4232315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Under-provisioning causes high latency and potential data loss during traffic spikes, impacting real-time insights.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93790" y="580298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batch processing systems struggle with real-time demands, while static streaming systems face a financial and performance trade-off. Our project addresses these critical issues.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5633"/>
            <a:ext cx="1034819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Our Solution: Dynamic Allocation for Stream ETL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6277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implemented a robust, real-time streaming pipeline using Apache Spark Structured Streaming and Apache Kafka to demonstrate infrastructure elasticity.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3150751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143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Stream ETL Job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634145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an Extract, Transform, Load (ETL) job for efficient data processing.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4457700"/>
            <a:ext cx="340162" cy="3401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906" y="4450675"/>
            <a:ext cx="33999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Spark Dynamic Allocation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530906" y="4941094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Leveraged Spark's dynamic allocation to automatically provision or release executors based on task backlog.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5764649"/>
            <a:ext cx="340162" cy="3401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30906" y="5757624"/>
            <a:ext cx="37853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Optimal Resource Utilization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530906" y="6248043"/>
            <a:ext cx="123057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Ensured resources are scaled up during load spikes and scaled down during idle periods, maximizing efficiency and cost savings.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011" y="366236"/>
            <a:ext cx="3694628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66011" y="965478"/>
            <a:ext cx="13698379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pipeline is structured into three distinct stages: Data Ingestion, Real-time Processing, and eventual Visualization (not covered in detail here).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803" y="1328380"/>
            <a:ext cx="7657743" cy="6173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011" y="7651909"/>
            <a:ext cx="13698379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modular design allows for clear separation of concerns and efficient handling of streaming data at each step.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826" y="552212"/>
            <a:ext cx="5425678" cy="502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Ingestion: Apache Kafka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702826" y="1455896"/>
            <a:ext cx="13224748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ingestion layer serves as the critical entry point for our streaming data, providing a high-throughput and fault-tolerant buffer.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02826" y="2183844"/>
            <a:ext cx="773882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Message Broker:</a:t>
            </a: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Apache Kafka acts as a central nervous system for our data, decoupling data generation from subsequent processing stages.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2826" y="2896791"/>
            <a:ext cx="773882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Throughput Buffer:</a:t>
            </a: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 efficiently handles large volumes of incoming data, ensuring no data is lost even during peak loads.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2826" y="3609737"/>
            <a:ext cx="773882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Topic:</a:t>
            </a: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Simulated real-time logs from Computer Science students are pushed to a dedicated Kafka topic named </a:t>
            </a:r>
            <a:r>
              <a:rPr lang="en-US" sz="155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cs_student_logs</a:t>
            </a: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2826" y="4322683"/>
            <a:ext cx="773882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Decoupling:</a:t>
            </a: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Kafka effectively separates the data producers from consumers, providing flexibility and resilience to the overall system.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093" y="2228969"/>
            <a:ext cx="4995982" cy="49959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39093" y="7450812"/>
            <a:ext cx="4995982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6270"/>
            <a:ext cx="970561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Processing Layer: Spark Structured Streaming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5687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Apache Spark Structured Streaming forms the core of our real-time data processing engine, enabling sophisticated analytics on continuous data streams.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92981"/>
            <a:ext cx="5564862" cy="29310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6079212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919674" y="2841903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Engine: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Apache Spark 3.5.0 (PySpark) is utilized for its powerful streaming capabilities.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919674" y="3647003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Continuously consumes data from the Kafka </a:t>
            </a:r>
            <a:r>
              <a:rPr lang="en-US" sz="175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cs_student_logs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topic.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919674" y="4452104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Parse: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Converts incoming JSON strings into a structured schema, preparing data for analysis.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919674" y="5257205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Watermarking: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Implemented with a 1-minute threshold to gracefully handle late-arriving data and ensure data consistency.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919674" y="6425208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Aggregation: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Performs a 10-second tumbling window aggregation, calculating metrics like "Total Lines of Code" and "Average CPU Usage" grouped by Course.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852" y="699016"/>
            <a:ext cx="9732169" cy="517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Autoscaling Mechanism: Spark Dynamic Allocation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24852" y="1527334"/>
            <a:ext cx="13180695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project's highlight is the implementation of Spark Dynamic Allocation, ensuring resource efficiency and cost optimization.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4852" y="2402086"/>
            <a:ext cx="6486763" cy="1857732"/>
          </a:xfrm>
          <a:prstGeom prst="roundRect">
            <a:avLst>
              <a:gd name="adj" fmla="val 5907"/>
            </a:avLst>
          </a:prstGeom>
          <a:solidFill>
            <a:srgbClr val="F3F3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24852" y="2379226"/>
            <a:ext cx="6486763" cy="91440"/>
          </a:xfrm>
          <a:prstGeom prst="roundRect">
            <a:avLst>
              <a:gd name="adj" fmla="val 33974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0" y="2091452"/>
            <a:ext cx="621268" cy="621268"/>
          </a:xfrm>
          <a:prstGeom prst="roundRect">
            <a:avLst>
              <a:gd name="adj" fmla="val 147183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843933" y="2246709"/>
            <a:ext cx="248483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4762" y="2919770"/>
            <a:ext cx="3215402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Enable Dynamic Allocation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54762" y="3367445"/>
            <a:ext cx="6026944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spark.dynamicAllocation.enabled: True</a:t>
            </a: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Activates the autoscaling feature.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18665" y="2402086"/>
            <a:ext cx="6486882" cy="1857732"/>
          </a:xfrm>
          <a:prstGeom prst="roundRect">
            <a:avLst>
              <a:gd name="adj" fmla="val 5907"/>
            </a:avLst>
          </a:prstGeom>
          <a:solidFill>
            <a:srgbClr val="F3F3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418665" y="2379226"/>
            <a:ext cx="6486882" cy="91440"/>
          </a:xfrm>
          <a:prstGeom prst="roundRect">
            <a:avLst>
              <a:gd name="adj" fmla="val 33974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0351413" y="2091452"/>
            <a:ext cx="621268" cy="621268"/>
          </a:xfrm>
          <a:prstGeom prst="roundRect">
            <a:avLst>
              <a:gd name="adj" fmla="val 147183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537746" y="2246709"/>
            <a:ext cx="248483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48575" y="2919770"/>
            <a:ext cx="2588776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Minimum Executors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48575" y="3367445"/>
            <a:ext cx="6027063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spark.dynamicAllocation.minExecutors: 0</a:t>
            </a: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Allows scaling down to zero executors when the cluster is idle, saving costs.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4852" y="4777502"/>
            <a:ext cx="6486763" cy="2188964"/>
          </a:xfrm>
          <a:prstGeom prst="roundRect">
            <a:avLst>
              <a:gd name="adj" fmla="val 5013"/>
            </a:avLst>
          </a:prstGeom>
          <a:solidFill>
            <a:srgbClr val="F3F3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24852" y="4754642"/>
            <a:ext cx="6486763" cy="91440"/>
          </a:xfrm>
          <a:prstGeom prst="roundRect">
            <a:avLst>
              <a:gd name="adj" fmla="val 33974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657600" y="4466868"/>
            <a:ext cx="621268" cy="621268"/>
          </a:xfrm>
          <a:prstGeom prst="roundRect">
            <a:avLst>
              <a:gd name="adj" fmla="val 147183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843933" y="4622125"/>
            <a:ext cx="248483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54762" y="5295186"/>
            <a:ext cx="2588776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Maximum Executors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54762" y="5742861"/>
            <a:ext cx="6026944" cy="99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spark.dynamicAllocation.maxExecutors: 4</a:t>
            </a: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Sets an upper limit to prevent infinite resource consumption during extreme load.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18665" y="4777502"/>
            <a:ext cx="6486882" cy="2188964"/>
          </a:xfrm>
          <a:prstGeom prst="roundRect">
            <a:avLst>
              <a:gd name="adj" fmla="val 5013"/>
            </a:avLst>
          </a:prstGeom>
          <a:solidFill>
            <a:srgbClr val="F3F3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418665" y="4754642"/>
            <a:ext cx="6486882" cy="91440"/>
          </a:xfrm>
          <a:prstGeom prst="roundRect">
            <a:avLst>
              <a:gd name="adj" fmla="val 33974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0351413" y="4466868"/>
            <a:ext cx="621268" cy="621268"/>
          </a:xfrm>
          <a:prstGeom prst="roundRect">
            <a:avLst>
              <a:gd name="adj" fmla="val 147183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0537746" y="4622125"/>
            <a:ext cx="248483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648575" y="5295186"/>
            <a:ext cx="2602706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Rapid Scaling Trigger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648575" y="5742861"/>
            <a:ext cx="6027063" cy="99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spark.dynamicAllocation.schedulerBacklogTimeout: 1s</a:t>
            </a: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Ensures quick scaling up in response to increased task backlog.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4852" y="7199352"/>
            <a:ext cx="13180695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parameters enable the system to automatically adjust computing resources based on real-time demand.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0902"/>
            <a:ext cx="1043439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Experimental Results: Autoscaling Demonstration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4080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validate the system's elasticity, a load test was conducted, simulating varying traffic conditions.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6093"/>
            <a:ext cx="13042821" cy="3702606"/>
          </a:xfrm>
          <a:prstGeom prst="roundRect">
            <a:avLst>
              <a:gd name="adj" fmla="val 91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93790" y="3026093"/>
            <a:ext cx="6521410" cy="2032754"/>
          </a:xfrm>
          <a:prstGeom prst="roundRect">
            <a:avLst>
              <a:gd name="adj" fmla="val 1674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2060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Baseline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3743325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runs with 1 producer, steady input rate (~10 ev/sec), utilizing 1 Spark Executor. Stable processing observed.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315200" y="3026093"/>
            <a:ext cx="6521410" cy="2032754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315200" y="3026093"/>
            <a:ext cx="30480" cy="2032754"/>
          </a:xfrm>
          <a:prstGeom prst="roundRect">
            <a:avLst>
              <a:gd name="adj" fmla="val 111628"/>
            </a:avLst>
          </a:prstGeom>
          <a:solidFill>
            <a:srgbClr val="516A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54201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Load Spike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42014" y="3743325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additional producers launched, increasing input rate by 300% (~40 ev/sec). Backlog grows, triggering executor scaling.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058847"/>
            <a:ext cx="6521410" cy="1669852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93790" y="5058847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516A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20604" y="52856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Scaling Up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0604" y="5776079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Allocation adds 3 new executors, reaching a total of 4. System adapts to increased load.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315200" y="5058847"/>
            <a:ext cx="6521410" cy="1669852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315200" y="5058847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516A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315200" y="5058847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516A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542014" y="52856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Cooldown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42014" y="5776079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Additional producers stopped, input rate returns to baseline. Executors scale down to 1 after a timeout.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201"/>
            <a:ext cx="904398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Cost Analysis: Autoscaling vs. Static Cluster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503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comparison of estimated costs on AWS EMR highlights the significant financial benefits of dynamic allocation.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595205"/>
            <a:ext cx="350031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Static Cluster Strategy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24731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Running 4 </a:t>
            </a:r>
            <a:r>
              <a:rPr lang="en-US" sz="175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m5.xlarge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instances for 24 hours daily, regardless of load: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33951" y="4228267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 hrs × 4 instances = </a:t>
            </a:r>
            <a:r>
              <a:rPr lang="en-US" sz="1750" b="1" dirty="0">
                <a:solidFill>
                  <a:srgbClr val="3851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96 instance-hours/day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228267"/>
            <a:ext cx="30480" cy="362903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93790" y="484632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represents a constant, high cost even during periods of low activity.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59520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Autoscaling Strategy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324731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Running 1 instance for 20 hours (low traffic) and scaling to 4 instances for 4 hours (peak traffic):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9683" y="4228267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(1 × 20) + (4 × 4) = </a:t>
            </a:r>
            <a:r>
              <a:rPr lang="en-US" sz="1750" b="1" dirty="0">
                <a:solidFill>
                  <a:srgbClr val="3851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 instance-hours/day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521" y="4228267"/>
            <a:ext cx="30480" cy="362903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599521" y="484632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dynamic approach aligns resource usage with actual demand.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6116360"/>
            <a:ext cx="601456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Result: 62.5% Cost Reduction</a:t>
            </a:r>
            <a:endParaRPr lang="en-US" sz="3550" dirty="0"/>
          </a:p>
        </p:txBody>
      </p:sp>
      <p:sp>
        <p:nvSpPr>
          <p:cNvPr id="15" name="Text 13"/>
          <p:cNvSpPr/>
          <p:nvPr/>
        </p:nvSpPr>
        <p:spPr>
          <a:xfrm>
            <a:off x="793790" y="70234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this specific scenario, autoscaling dramatically reduces operational costs by optimizing resource allocation.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095" y="597218"/>
            <a:ext cx="5959197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 &amp; Outlook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0095" y="1465898"/>
            <a:ext cx="13110210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project successfully demonstrated the power of Spark Structured Streaming combined with Dynamic Allocation for efficient and cost-effective real-time ETL.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0095" y="2405063"/>
            <a:ext cx="868680" cy="1303020"/>
          </a:xfrm>
          <a:prstGeom prst="roundRect">
            <a:avLst>
              <a:gd name="adj" fmla="val 36000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558" y="2893695"/>
            <a:ext cx="325755" cy="3257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45945" y="2622233"/>
            <a:ext cx="2864644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ETL Success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845945" y="3091815"/>
            <a:ext cx="1202436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Spark Structured Streaming efficiently handled continuous data streams and complex aggregations.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60095" y="3925253"/>
            <a:ext cx="868680" cy="1598771"/>
          </a:xfrm>
          <a:prstGeom prst="roundRect">
            <a:avLst>
              <a:gd name="adj" fmla="val 36000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1558" y="4561761"/>
            <a:ext cx="325755" cy="32575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45945" y="4142423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Achieved Elasticity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845945" y="4612005"/>
            <a:ext cx="12024360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Allocation maintained low latency during high traffic while minimizing resource usage during low traffic periods.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60095" y="5741194"/>
            <a:ext cx="868680" cy="1303020"/>
          </a:xfrm>
          <a:prstGeom prst="roundRect">
            <a:avLst>
              <a:gd name="adj" fmla="val 36000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1558" y="6229826"/>
            <a:ext cx="325755" cy="3257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45945" y="5958364"/>
            <a:ext cx="3049667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Cost-Effective Approach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1845945" y="6427946"/>
            <a:ext cx="1202436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architecture offers a modern and economical solution for Big Data processing in cloud environments.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760095" y="7288530"/>
            <a:ext cx="131102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approach paves the way for scalable, resilient, and budget-friendly data pipelines in the cloud era.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967</Words>
  <Application>Microsoft Office PowerPoint</Application>
  <PresentationFormat>Custom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Open Sans</vt:lpstr>
      <vt:lpstr>Consolas</vt:lpstr>
      <vt:lpstr>Playfair Display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Ahmed yar</cp:lastModifiedBy>
  <cp:revision>2</cp:revision>
  <dcterms:created xsi:type="dcterms:W3CDTF">2025-12-07T15:38:34Z</dcterms:created>
  <dcterms:modified xsi:type="dcterms:W3CDTF">2025-12-07T15:46:32Z</dcterms:modified>
</cp:coreProperties>
</file>